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kzidenz-Grotesk" panose="020B0604020202020204" charset="0"/>
      <p:regular r:id="rId24"/>
    </p:embeddedFont>
    <p:embeddedFont>
      <p:font typeface="Akzidenz-Grotesk Bold" panose="020B0604020202020204" charset="0"/>
      <p:regular r:id="rId25"/>
    </p:embeddedFont>
    <p:embeddedFont>
      <p:font typeface="Akzidenz-Grotesk Italics" panose="020B0604020202020204" charset="0"/>
      <p:regular r:id="rId26"/>
    </p:embeddedFont>
    <p:embeddedFont>
      <p:font typeface="Arial Bold" panose="020B0704020202020204" pitchFamily="34" charset="0"/>
      <p:regular r:id="rId27"/>
      <p:bold r:id="rId28"/>
    </p:embeddedFont>
    <p:embeddedFont>
      <p:font typeface="Canva Sans Bold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43580" y="5143500"/>
            <a:ext cx="0" cy="405624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62025"/>
            <a:ext cx="16014363" cy="3418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</a:pPr>
            <a:endParaRPr/>
          </a:p>
          <a:p>
            <a:pPr algn="ctr">
              <a:lnSpc>
                <a:spcPts val="8387"/>
              </a:lnSpc>
            </a:pPr>
            <a:endParaRPr/>
          </a:p>
          <a:p>
            <a:pPr algn="ctr">
              <a:lnSpc>
                <a:spcPts val="4609"/>
              </a:lnSpc>
            </a:pPr>
            <a:r>
              <a:rPr lang="en-US" sz="4190" spc="-10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SignConnect: A Real-Time Bidirectional Communication Assistant for Online Meetings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3456418" y="1076424"/>
            <a:ext cx="25200836" cy="2061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68"/>
              </a:lnSpc>
            </a:pPr>
            <a:r>
              <a:rPr lang="en-US" sz="8335" b="1" spc="-208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MINOR PROJECT</a:t>
            </a:r>
          </a:p>
          <a:p>
            <a:pPr algn="ctr">
              <a:lnSpc>
                <a:spcPts val="3894"/>
              </a:lnSpc>
            </a:pPr>
            <a:endParaRPr lang="en-US" sz="8335" b="1" spc="-208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algn="ctr">
              <a:lnSpc>
                <a:spcPts val="3098"/>
              </a:lnSpc>
            </a:pPr>
            <a:endParaRPr lang="en-US" sz="8335" b="1" spc="-208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51648" y="5169652"/>
            <a:ext cx="2190949" cy="68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u="sng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Members: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6314557"/>
            <a:ext cx="8736608" cy="1792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5" lvl="1" indent="-356237" algn="l">
              <a:lnSpc>
                <a:spcPts val="4620"/>
              </a:lnSpc>
              <a:buAutoNum type="arabicPeriod"/>
            </a:pPr>
            <a:r>
              <a:rPr lang="en-US" sz="3300" spc="-8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Akshara Satheesh Nair   (RA2311042010024)</a:t>
            </a:r>
          </a:p>
          <a:p>
            <a:pPr marL="712475" lvl="1" indent="-356237" algn="l">
              <a:lnSpc>
                <a:spcPts val="4620"/>
              </a:lnSpc>
              <a:buAutoNum type="arabicPeriod"/>
            </a:pPr>
            <a:r>
              <a:rPr lang="en-US" sz="3300" spc="-82" dirty="0" err="1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Shubiksha</a:t>
            </a:r>
            <a:r>
              <a:rPr lang="en-US" sz="3300" spc="-8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K                    (RA2311042010018)</a:t>
            </a:r>
          </a:p>
          <a:p>
            <a:pPr marL="712475" lvl="1" indent="-356237" algn="l">
              <a:lnSpc>
                <a:spcPts val="4620"/>
              </a:lnSpc>
              <a:spcBef>
                <a:spcPct val="0"/>
              </a:spcBef>
              <a:buAutoNum type="arabicPeriod"/>
            </a:pPr>
            <a:r>
              <a:rPr lang="en-US" sz="3300" spc="-82" dirty="0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V Pranav Krishna             (RA2311042010046)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05290" y="5169652"/>
            <a:ext cx="1714500" cy="68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u="sng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Mentor: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05289" y="6314557"/>
            <a:ext cx="2715509" cy="5573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dirty="0" err="1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Dr.P.Varun</a:t>
            </a:r>
            <a:endParaRPr lang="en-US" sz="3300" dirty="0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9624" y="1352635"/>
            <a:ext cx="15868752" cy="6926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Problem statement:</a:t>
            </a:r>
          </a:p>
          <a:p>
            <a:pPr algn="l">
              <a:lnSpc>
                <a:spcPts val="6019"/>
              </a:lnSpc>
            </a:pPr>
            <a:endParaRPr lang="en-US" sz="4299" b="1" u="sng" spc="-107">
              <a:solidFill>
                <a:srgbClr val="000000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Communication barriers for hearing- or speech-impaired individuals in online meetings.</a:t>
            </a:r>
          </a:p>
          <a:p>
            <a:pPr algn="just">
              <a:lnSpc>
                <a:spcPts val="6019"/>
              </a:lnSpc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Current tools provide either speech-to-text or sign-to-text, but not a unified system.</a:t>
            </a:r>
          </a:p>
          <a:p>
            <a:pPr algn="just">
              <a:lnSpc>
                <a:spcPts val="6019"/>
              </a:lnSpc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Need for a real-time, bidirectional, accessible solution.</a:t>
            </a: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2907" y="1062014"/>
            <a:ext cx="16026393" cy="845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Project Objective:</a:t>
            </a:r>
          </a:p>
          <a:p>
            <a:pPr algn="just">
              <a:lnSpc>
                <a:spcPts val="6019"/>
              </a:lnSpc>
            </a:pPr>
            <a:endParaRPr lang="en-US" sz="4299" b="1" u="sng" spc="-107">
              <a:solidFill>
                <a:srgbClr val="000000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Transcribe speech from meetings in real time.</a:t>
            </a:r>
          </a:p>
          <a:p>
            <a:pPr algn="just">
              <a:lnSpc>
                <a:spcPts val="6019"/>
              </a:lnSpc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Detect sign language gestures from users and convert them to text &amp; speech.</a:t>
            </a:r>
          </a:p>
          <a:p>
            <a:pPr algn="just">
              <a:lnSpc>
                <a:spcPts val="6019"/>
              </a:lnSpc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Provide a simple, user-friendly interface for accessible online communication to create a unified interface for inclusive, real-time interaction.</a:t>
            </a:r>
          </a:p>
          <a:p>
            <a:pPr algn="l">
              <a:lnSpc>
                <a:spcPts val="6019"/>
              </a:lnSpc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36382" y="175866"/>
            <a:ext cx="4264050" cy="7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Literature Review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6383232" y="92024"/>
            <a:ext cx="1904768" cy="1890813"/>
          </a:xfrm>
          <a:custGeom>
            <a:avLst/>
            <a:gdLst/>
            <a:ahLst/>
            <a:cxnLst/>
            <a:rect l="l" t="t" r="r" b="b"/>
            <a:pathLst>
              <a:path w="1904768" h="1890813">
                <a:moveTo>
                  <a:pt x="0" y="0"/>
                </a:moveTo>
                <a:lnTo>
                  <a:pt x="1904768" y="0"/>
                </a:lnTo>
                <a:lnTo>
                  <a:pt x="1904768" y="1890814"/>
                </a:lnTo>
                <a:lnTo>
                  <a:pt x="0" y="1890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DF4B5-9280-8925-A479-D5551EEA6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20135"/>
            <a:ext cx="15996804" cy="86896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36382" y="175866"/>
            <a:ext cx="4264050" cy="7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Literature Review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6383232" y="92024"/>
            <a:ext cx="1904768" cy="1890813"/>
          </a:xfrm>
          <a:custGeom>
            <a:avLst/>
            <a:gdLst/>
            <a:ahLst/>
            <a:cxnLst/>
            <a:rect l="l" t="t" r="r" b="b"/>
            <a:pathLst>
              <a:path w="1904768" h="1890813">
                <a:moveTo>
                  <a:pt x="0" y="0"/>
                </a:moveTo>
                <a:lnTo>
                  <a:pt x="1904768" y="0"/>
                </a:lnTo>
                <a:lnTo>
                  <a:pt x="1904768" y="1890814"/>
                </a:lnTo>
                <a:lnTo>
                  <a:pt x="0" y="1890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1E0D5B-2A03-8A60-8158-05B8EA5AD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948954"/>
            <a:ext cx="15925800" cy="9150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36382" y="175866"/>
            <a:ext cx="4264050" cy="773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Literature Review</a:t>
            </a:r>
          </a:p>
        </p:txBody>
      </p:sp>
      <p:sp>
        <p:nvSpPr>
          <p:cNvPr id="4" name="Freeform 4"/>
          <p:cNvSpPr/>
          <p:nvPr/>
        </p:nvSpPr>
        <p:spPr>
          <a:xfrm>
            <a:off x="16383232" y="92024"/>
            <a:ext cx="1904768" cy="1890813"/>
          </a:xfrm>
          <a:custGeom>
            <a:avLst/>
            <a:gdLst/>
            <a:ahLst/>
            <a:cxnLst/>
            <a:rect l="l" t="t" r="r" b="b"/>
            <a:pathLst>
              <a:path w="1904768" h="1890813">
                <a:moveTo>
                  <a:pt x="0" y="0"/>
                </a:moveTo>
                <a:lnTo>
                  <a:pt x="1904768" y="0"/>
                </a:lnTo>
                <a:lnTo>
                  <a:pt x="1904768" y="1890814"/>
                </a:lnTo>
                <a:lnTo>
                  <a:pt x="0" y="18908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82663B-BD0C-4E3E-8DAF-993202FDC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1100"/>
            <a:ext cx="15163800" cy="88512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2157" y="193271"/>
            <a:ext cx="15802752" cy="112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3"/>
              </a:lnSpc>
            </a:pPr>
            <a:r>
              <a:rPr lang="en-US" sz="3852" b="1" u="sng" spc="-9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Overview (High-Level Architecture):</a:t>
            </a:r>
          </a:p>
          <a:p>
            <a:pPr algn="just">
              <a:lnSpc>
                <a:spcPts val="5393"/>
              </a:lnSpc>
            </a:pPr>
            <a:endParaRPr lang="en-US" sz="3852" b="1" u="sng" spc="-96">
              <a:solidFill>
                <a:srgbClr val="000000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  <a:p>
            <a:pPr algn="just">
              <a:lnSpc>
                <a:spcPts val="5393"/>
              </a:lnSpc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🔹 1. Input Layer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system takes two types of inputs: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Meeting audio from online platforms such as Zoom or Google Meet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Webcam video capturing the signer’s hand gestures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These inputs are processed simultaneously, ensuring real-time interaction.</a:t>
            </a:r>
          </a:p>
          <a:p>
            <a:pPr algn="just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5393"/>
              </a:lnSpc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🔹 2. Audio Processing Pipeline (Left Side)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Meeting speech is captured and passed to Whisper (Speech-to-Text)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Whisper converts spoken audio into live textual captions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These captions are displayed on the user interface, supporting deaf and hard-of-hearing users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This pipeline enables speech → text communication.</a:t>
            </a:r>
          </a:p>
          <a:p>
            <a:pPr algn="just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4267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4267"/>
              </a:lnSpc>
              <a:spcBef>
                <a:spcPct val="0"/>
              </a:spcBef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3809" y="191842"/>
            <a:ext cx="15802752" cy="11958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3"/>
              </a:lnSpc>
            </a:pPr>
            <a:r>
              <a:rPr lang="en-US" sz="3852" b="1" u="sng" spc="-9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Overview (High-Level Architecture):</a:t>
            </a:r>
          </a:p>
          <a:p>
            <a:pPr algn="just">
              <a:lnSpc>
                <a:spcPts val="5393"/>
              </a:lnSpc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🔹 3. Video Processing Pipeline (Right Side)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Webcam input is processed using MediaPipe, which extracts precise hand landmarks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landmarks are normalized and sequenced to form temporal data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Bi-LSTM model analyzes these sequences to learn temporal dependencies in gestures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extracted temporal features are classified using an SVM, producing the recognized sign text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This pipeline enables sign → text conversion.</a:t>
            </a:r>
          </a:p>
          <a:p>
            <a:pPr algn="just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5393"/>
              </a:lnSpc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🔹 4. Output Module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recognized sign text is: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Displayed as text on the UI</a:t>
            </a:r>
          </a:p>
          <a:p>
            <a:pPr algn="l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4267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4267"/>
              </a:lnSpc>
              <a:spcBef>
                <a:spcPct val="0"/>
              </a:spcBef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8138" y="778829"/>
            <a:ext cx="15802752" cy="8576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3"/>
              </a:lnSpc>
            </a:pPr>
            <a:r>
              <a:rPr lang="en-US" sz="3852" b="1" u="sng" spc="-96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System Overview (High-Level Architecture):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Converted into speech using a Text-to-Speech (TTS) engine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generated audio is played for hearing participants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This completes the sign → speech direction.</a:t>
            </a:r>
          </a:p>
          <a:p>
            <a:pPr algn="just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5393"/>
              </a:lnSpc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🔹 5. Backend &amp; Integration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Flask backend manages streaming, model inference, and synchronization</a:t>
            </a:r>
          </a:p>
          <a:p>
            <a:pPr marL="831739" lvl="1" indent="-415870" algn="just">
              <a:lnSpc>
                <a:spcPts val="5393"/>
              </a:lnSpc>
              <a:buFont typeface="Arial"/>
              <a:buChar char="•"/>
            </a:pPr>
            <a:r>
              <a:rPr lang="en-US" sz="3852" spc="-96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web UI runs as an overlay, allowing SignConnect to work alongside Zoom, Meet, or Teams without modifying them.</a:t>
            </a:r>
          </a:p>
          <a:p>
            <a:pPr algn="l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5393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4267"/>
              </a:lnSpc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l">
              <a:lnSpc>
                <a:spcPts val="4267"/>
              </a:lnSpc>
              <a:spcBef>
                <a:spcPct val="0"/>
              </a:spcBef>
            </a:pPr>
            <a:endParaRPr lang="en-US" sz="3852" spc="-96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834537" y="1638989"/>
            <a:ext cx="13228883" cy="7831913"/>
          </a:xfrm>
          <a:custGeom>
            <a:avLst/>
            <a:gdLst/>
            <a:ahLst/>
            <a:cxnLst/>
            <a:rect l="l" t="t" r="r" b="b"/>
            <a:pathLst>
              <a:path w="13228883" h="7831913">
                <a:moveTo>
                  <a:pt x="0" y="0"/>
                </a:moveTo>
                <a:lnTo>
                  <a:pt x="13228883" y="0"/>
                </a:lnTo>
                <a:lnTo>
                  <a:pt x="13228883" y="7831913"/>
                </a:lnTo>
                <a:lnTo>
                  <a:pt x="0" y="7831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61" b="-46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82546" y="580072"/>
            <a:ext cx="6971454" cy="81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 Case Diagram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4043" y="1028700"/>
            <a:ext cx="13226180" cy="9257106"/>
          </a:xfrm>
          <a:custGeom>
            <a:avLst/>
            <a:gdLst/>
            <a:ahLst/>
            <a:cxnLst/>
            <a:rect l="l" t="t" r="r" b="b"/>
            <a:pathLst>
              <a:path w="13226180" h="9257106">
                <a:moveTo>
                  <a:pt x="0" y="0"/>
                </a:moveTo>
                <a:lnTo>
                  <a:pt x="13226181" y="0"/>
                </a:lnTo>
                <a:lnTo>
                  <a:pt x="13226181" y="9257106"/>
                </a:lnTo>
                <a:lnTo>
                  <a:pt x="0" y="92571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5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76343" y="217170"/>
            <a:ext cx="5239457" cy="811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 u="sng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 Diagram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9061" y="2939872"/>
            <a:ext cx="17268781" cy="4511469"/>
          </a:xfrm>
          <a:custGeom>
            <a:avLst/>
            <a:gdLst/>
            <a:ahLst/>
            <a:cxnLst/>
            <a:rect l="l" t="t" r="r" b="b"/>
            <a:pathLst>
              <a:path w="17268781" h="4511469">
                <a:moveTo>
                  <a:pt x="0" y="0"/>
                </a:moveTo>
                <a:lnTo>
                  <a:pt x="17268781" y="0"/>
                </a:lnTo>
                <a:lnTo>
                  <a:pt x="17268781" y="4511469"/>
                </a:lnTo>
                <a:lnTo>
                  <a:pt x="0" y="45114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48412" y="740813"/>
            <a:ext cx="5591175" cy="811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1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Flow Diagram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50655" y="172158"/>
            <a:ext cx="17527187" cy="159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Technology Stack</a:t>
            </a:r>
          </a:p>
          <a:p>
            <a:pPr algn="ctr">
              <a:lnSpc>
                <a:spcPts val="6019"/>
              </a:lnSpc>
              <a:spcBef>
                <a:spcPct val="0"/>
              </a:spcBef>
            </a:pPr>
            <a:endParaRPr lang="en-US" sz="4299" b="1" u="sng" spc="-107">
              <a:solidFill>
                <a:srgbClr val="000000"/>
              </a:solidFill>
              <a:latin typeface="Akzidenz-Grotesk Bold"/>
              <a:ea typeface="Akzidenz-Grotesk Bold"/>
              <a:cs typeface="Akzidenz-Grotesk Bold"/>
              <a:sym typeface="Akzidenz-Grotesk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7B6AE-A1CD-A819-182E-D28672A01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81100"/>
            <a:ext cx="12801600" cy="809694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789" y="198120"/>
            <a:ext cx="18288000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Methodology</a:t>
            </a: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67851"/>
            <a:ext cx="16465395" cy="7241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7" lvl="1" indent="-313059" algn="just">
              <a:lnSpc>
                <a:spcPts val="4060"/>
              </a:lnSpc>
              <a:buAutoNum type="arabicPeriod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Data Acquisition: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Live audio (16 kHz, mono) and webcam video (25–30 fps) are captured from online meetings.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Audio is segmented; video frames are resized.</a:t>
            </a:r>
          </a:p>
          <a:p>
            <a:pPr marL="626117" lvl="1" indent="-313059" algn="just">
              <a:lnSpc>
                <a:spcPts val="4060"/>
              </a:lnSpc>
              <a:buAutoNum type="arabicPeriod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Speech-to-Text Processing: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Captured audio is converted to a log-Mel spectrogram.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Transcribed into live captions using the Whisper transformer model for hearing-impaired users.</a:t>
            </a:r>
          </a:p>
          <a:p>
            <a:pPr marL="626117" lvl="1" indent="-313059" algn="just">
              <a:lnSpc>
                <a:spcPts val="4060"/>
              </a:lnSpc>
              <a:buAutoNum type="arabicPeriod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Sign Language Recognition Pipeline: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Video frames undergo:</a:t>
            </a:r>
          </a:p>
          <a:p>
            <a:pPr marL="1878351" lvl="3" indent="-469588" algn="just">
              <a:lnSpc>
                <a:spcPts val="4060"/>
              </a:lnSpc>
              <a:buFont typeface="Arial"/>
              <a:buChar char="￭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Landmark Extraction: </a:t>
            </a: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MediaPipe extracts 3D hand joint coordinates for reduced complexity and robustness.</a:t>
            </a:r>
          </a:p>
          <a:p>
            <a:pPr marL="1878351" lvl="3" indent="-469588" algn="just">
              <a:lnSpc>
                <a:spcPts val="4060"/>
              </a:lnSpc>
              <a:buFont typeface="Arial"/>
              <a:buChar char="￭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Data Normalization:</a:t>
            </a: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 Coordinates are normalized relative to the wrist and scaled for invariance to camera/hand position/size.</a:t>
            </a:r>
          </a:p>
          <a:p>
            <a:pPr marL="1878351" lvl="3" indent="-469588" algn="just">
              <a:lnSpc>
                <a:spcPts val="4060"/>
              </a:lnSpc>
              <a:buFont typeface="Arial"/>
              <a:buChar char="￭"/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Temporal Sequencing: </a:t>
            </a: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Normalized vectors are grouped into fixed-length sequences using a sliding window to model gesture motion.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789" y="198120"/>
            <a:ext cx="18288000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Methodology</a:t>
            </a: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67851"/>
            <a:ext cx="16465395" cy="569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4.Temporal Feature Learning using Bi-LSTM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Landmark sequences are processed by a Bidirectional Long Short-Term Memory (Bi-LSTM) network.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concatenated hidden states from forward and backward LSTMs create a comprehensive temporal feature representation.</a:t>
            </a:r>
          </a:p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5</a:t>
            </a: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.</a:t>
            </a: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Gesture Classification using SVM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Bi-LSTM features are classified by a Support Vector Machine (SVM).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SVM learns a maximum-margin boundary, combining Bi-LSTM's sequence modeling with SVM's classification robustness.</a:t>
            </a:r>
          </a:p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6.Text-to-Speech Conversion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Recognized sign labels are mapped to words.  </a:t>
            </a:r>
          </a:p>
          <a:p>
            <a:pPr marL="1252234" lvl="2" indent="-417411" algn="just">
              <a:lnSpc>
                <a:spcPts val="4060"/>
              </a:lnSpc>
              <a:buFont typeface="Arial"/>
              <a:buChar char="⚬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These words are converted into real-time audible speech for hearing participants using gTTS.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33789" y="198120"/>
            <a:ext cx="18288000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Methodology</a:t>
            </a: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167851"/>
            <a:ext cx="16465395" cy="5698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7. Backend Coordination and Integration</a:t>
            </a:r>
          </a:p>
          <a:p>
            <a:pPr marL="626117" lvl="1" indent="-313059" algn="just">
              <a:lnSpc>
                <a:spcPts val="4060"/>
              </a:lnSpc>
              <a:buFont typeface="Arial"/>
              <a:buChar char="•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backend, built on Flask, oversees data streaming, model inference, and the synchronization of audio and video pipelines. It utilizes RESTful and streaming APIs to ensure low-latency communication.</a:t>
            </a:r>
          </a:p>
          <a:p>
            <a:pPr marL="0" lvl="0" indent="0" algn="just">
              <a:lnSpc>
                <a:spcPts val="4060"/>
              </a:lnSpc>
            </a:pPr>
            <a:endParaRPr lang="en-US" sz="2900" spc="-72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8. Frontend Interface</a:t>
            </a:r>
          </a:p>
          <a:p>
            <a:pPr marL="626117" lvl="1" indent="-313059" algn="just">
              <a:lnSpc>
                <a:spcPts val="4060"/>
              </a:lnSpc>
              <a:buFont typeface="Arial"/>
              <a:buChar char="•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frontend features a browser-based web overlay that provides live captions, recognized sign text, and controls for synthesized speech. It operates seamlessly alongside platforms like Zoom, Meet, and Teams.</a:t>
            </a:r>
          </a:p>
          <a:p>
            <a:pPr marL="0" lvl="0" indent="0" algn="just">
              <a:lnSpc>
                <a:spcPts val="4060"/>
              </a:lnSpc>
            </a:pPr>
            <a:endParaRPr lang="en-US" sz="2900" spc="-72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  <a:p>
            <a:pPr algn="just">
              <a:lnSpc>
                <a:spcPts val="4060"/>
              </a:lnSpc>
            </a:pPr>
            <a:r>
              <a:rPr lang="en-US" sz="2900" b="1" spc="-72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9. Performance Evaluation</a:t>
            </a:r>
          </a:p>
          <a:p>
            <a:pPr marL="626117" lvl="1" indent="-313059" algn="just">
              <a:lnSpc>
                <a:spcPts val="4060"/>
              </a:lnSpc>
              <a:buFont typeface="Arial"/>
              <a:buChar char="•"/>
            </a:pPr>
            <a:r>
              <a:rPr lang="en-US" sz="2900" spc="-7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system's performance is assessed based on several factors: latency, accuracy (in both speech and sign recognition), throughput, and usability during real-time meeting scenarios.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9876" y="1712955"/>
            <a:ext cx="18288000" cy="832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Implementation Plan</a:t>
            </a:r>
          </a:p>
        </p:txBody>
      </p:sp>
      <p:sp>
        <p:nvSpPr>
          <p:cNvPr id="3" name="Freeform 3"/>
          <p:cNvSpPr/>
          <p:nvPr/>
        </p:nvSpPr>
        <p:spPr>
          <a:xfrm>
            <a:off x="2388631" y="3091157"/>
            <a:ext cx="14477591" cy="4433762"/>
          </a:xfrm>
          <a:custGeom>
            <a:avLst/>
            <a:gdLst/>
            <a:ahLst/>
            <a:cxnLst/>
            <a:rect l="l" t="t" r="r" b="b"/>
            <a:pathLst>
              <a:path w="14477591" h="4433762">
                <a:moveTo>
                  <a:pt x="0" y="0"/>
                </a:moveTo>
                <a:lnTo>
                  <a:pt x="14477591" y="0"/>
                </a:lnTo>
                <a:lnTo>
                  <a:pt x="14477591" y="4433762"/>
                </a:lnTo>
                <a:lnTo>
                  <a:pt x="0" y="443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865177"/>
            <a:ext cx="18591442" cy="3087315"/>
          </a:xfrm>
          <a:custGeom>
            <a:avLst/>
            <a:gdLst/>
            <a:ahLst/>
            <a:cxnLst/>
            <a:rect l="l" t="t" r="r" b="b"/>
            <a:pathLst>
              <a:path w="18591442" h="3087315">
                <a:moveTo>
                  <a:pt x="0" y="0"/>
                </a:moveTo>
                <a:lnTo>
                  <a:pt x="18591442" y="0"/>
                </a:lnTo>
                <a:lnTo>
                  <a:pt x="18591442" y="3087315"/>
                </a:lnTo>
                <a:lnTo>
                  <a:pt x="0" y="308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09" b="-809"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447050"/>
            <a:ext cx="16230600" cy="2348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simple, user-friendly web interface where:</a:t>
            </a:r>
          </a:p>
          <a:p>
            <a:pPr marL="1856739" lvl="2" indent="-618913" algn="just">
              <a:lnSpc>
                <a:spcPts val="6019"/>
              </a:lnSpc>
              <a:buFont typeface="Arial"/>
              <a:buChar char="⚬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Speech is transcribed in real time.</a:t>
            </a:r>
          </a:p>
          <a:p>
            <a:pPr marL="1856739" lvl="2" indent="-618913" algn="just">
              <a:lnSpc>
                <a:spcPts val="6019"/>
              </a:lnSpc>
              <a:spcBef>
                <a:spcPct val="0"/>
              </a:spcBef>
              <a:buFont typeface="Arial"/>
              <a:buChar char="⚬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Signs are recognized and converted into both text and voice</a:t>
            </a:r>
            <a:r>
              <a:rPr lang="en-US" sz="4299" spc="-107">
                <a:solidFill>
                  <a:srgbClr val="2B504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80407" y="1933100"/>
            <a:ext cx="17527187" cy="832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u="sng" spc="-107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EXPECTED OUTPUT</a:t>
            </a:r>
          </a:p>
        </p:txBody>
      </p:sp>
      <p:sp>
        <p:nvSpPr>
          <p:cNvPr id="4" name="Freeform 4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813893"/>
            <a:ext cx="15759953" cy="69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Enables inclusive participation in online meetings for deaf, hard-of-hearing, and mute individuals.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Runs on low-cost devices and uses fully open-source tools, making it affordable and scalable.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Promotes accessibility and digital equality by bridging communication gaps.</a:t>
            </a:r>
          </a:p>
          <a:p>
            <a:pPr marL="928369" lvl="1" indent="-464185" algn="just">
              <a:lnSpc>
                <a:spcPts val="6019"/>
              </a:lnSpc>
              <a:buFont typeface="Arial"/>
              <a:buChar char="•"/>
            </a:pPr>
            <a:r>
              <a:rPr lang="en-US" sz="4299" spc="-107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Applicable across domains — schools, workplaces, virtual classrooms, clinics, and public services.</a:t>
            </a:r>
          </a:p>
          <a:p>
            <a:pPr algn="just">
              <a:lnSpc>
                <a:spcPts val="6019"/>
              </a:lnSpc>
              <a:spcBef>
                <a:spcPct val="0"/>
              </a:spcBef>
            </a:pPr>
            <a:endParaRPr lang="en-US" sz="4299" spc="-107">
              <a:solidFill>
                <a:srgbClr val="000000"/>
              </a:solidFill>
              <a:latin typeface="Akzidenz-Grotesk"/>
              <a:ea typeface="Akzidenz-Grotesk"/>
              <a:cs typeface="Akzidenz-Grotesk"/>
              <a:sym typeface="Akzidenz-Grotesk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181600" y="866775"/>
            <a:ext cx="6396457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94"/>
              </a:lnSpc>
              <a:spcBef>
                <a:spcPct val="0"/>
              </a:spcBef>
            </a:pPr>
            <a:r>
              <a:rPr lang="en-US" sz="4424" b="1" u="sng" spc="-110" dirty="0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Advantages / Impact</a:t>
            </a:r>
          </a:p>
        </p:txBody>
      </p:sp>
      <p:sp>
        <p:nvSpPr>
          <p:cNvPr id="4" name="Freeform 4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19337"/>
            <a:ext cx="16407537" cy="566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746" lvl="1" indent="-485873" algn="just">
              <a:lnSpc>
                <a:spcPts val="6301"/>
              </a:lnSpc>
              <a:buFont typeface="Arial"/>
              <a:buChar char="•"/>
            </a:pPr>
            <a:r>
              <a:rPr lang="en-US" sz="4500" spc="-11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Multi-language translation for both speech and sign outputs.</a:t>
            </a:r>
          </a:p>
          <a:p>
            <a:pPr marL="971746" lvl="1" indent="-485873" algn="just">
              <a:lnSpc>
                <a:spcPts val="6301"/>
              </a:lnSpc>
              <a:buFont typeface="Arial"/>
              <a:buChar char="•"/>
            </a:pPr>
            <a:r>
              <a:rPr lang="en-US" sz="4500" spc="-11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Browser extension for real-time communication, enabling use on Zoom, Meet, Teams, etc.</a:t>
            </a:r>
          </a:p>
          <a:p>
            <a:pPr marL="971746" lvl="1" indent="-485873" algn="just">
              <a:lnSpc>
                <a:spcPts val="6301"/>
              </a:lnSpc>
              <a:buFont typeface="Arial"/>
              <a:buChar char="•"/>
            </a:pPr>
            <a:r>
              <a:rPr lang="en-US" sz="4500" spc="-11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Emotion detection from voice or sign gestures to improve contextual understanding.</a:t>
            </a:r>
          </a:p>
          <a:p>
            <a:pPr marL="971746" lvl="1" indent="-485873" algn="just">
              <a:lnSpc>
                <a:spcPts val="6301"/>
              </a:lnSpc>
              <a:spcBef>
                <a:spcPct val="0"/>
              </a:spcBef>
              <a:buFont typeface="Arial"/>
              <a:buChar char="•"/>
            </a:pPr>
            <a:r>
              <a:rPr lang="en-US" sz="4500" spc="-112">
                <a:solidFill>
                  <a:srgbClr val="000000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Support for complex sign sequences, enabling full phrases and conversational flow.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715000" y="1027804"/>
            <a:ext cx="5019378" cy="743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94"/>
              </a:lnSpc>
              <a:spcBef>
                <a:spcPct val="0"/>
              </a:spcBef>
            </a:pPr>
            <a:r>
              <a:rPr lang="en-US" sz="4424" b="1" u="sng" spc="-110" dirty="0">
                <a:solidFill>
                  <a:srgbClr val="000000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72973" y="3793875"/>
            <a:ext cx="10942054" cy="1993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20"/>
              </a:lnSpc>
            </a:pPr>
            <a:r>
              <a:rPr lang="en-US" sz="12200" i="1" spc="-305">
                <a:solidFill>
                  <a:srgbClr val="000000"/>
                </a:solidFill>
                <a:latin typeface="Akzidenz-Grotesk Italics"/>
                <a:ea typeface="Akzidenz-Grotesk Italics"/>
                <a:cs typeface="Akzidenz-Grotesk Italics"/>
                <a:sym typeface="Akzidenz-Grotesk Italics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15599464" y="343608"/>
            <a:ext cx="2378378" cy="2360954"/>
          </a:xfrm>
          <a:custGeom>
            <a:avLst/>
            <a:gdLst/>
            <a:ahLst/>
            <a:cxnLst/>
            <a:rect l="l" t="t" r="r" b="b"/>
            <a:pathLst>
              <a:path w="2378378" h="2360954">
                <a:moveTo>
                  <a:pt x="0" y="0"/>
                </a:moveTo>
                <a:lnTo>
                  <a:pt x="2378378" y="0"/>
                </a:lnTo>
                <a:lnTo>
                  <a:pt x="2378378" y="2360954"/>
                </a:lnTo>
                <a:lnTo>
                  <a:pt x="0" y="236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9" t="-369" r="-369" b="-36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881</Words>
  <Application>Microsoft Office PowerPoint</Application>
  <PresentationFormat>Custom</PresentationFormat>
  <Paragraphs>115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Akzidenz-Grotesk Italics</vt:lpstr>
      <vt:lpstr>Akzidenz-Grotesk</vt:lpstr>
      <vt:lpstr>Calibri</vt:lpstr>
      <vt:lpstr>Arial Bold</vt:lpstr>
      <vt:lpstr>Akzidenz-Grotesk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SignConnect: Real-Time Communication Assistant for Online Meetings</dc:title>
  <cp:lastModifiedBy>aksharasatheeshnair@outlook.com</cp:lastModifiedBy>
  <cp:revision>2</cp:revision>
  <dcterms:created xsi:type="dcterms:W3CDTF">2006-08-16T00:00:00Z</dcterms:created>
  <dcterms:modified xsi:type="dcterms:W3CDTF">2026-02-27T19:05:22Z</dcterms:modified>
  <dc:identifier>DAG67hyCbcw</dc:identifier>
</cp:coreProperties>
</file>